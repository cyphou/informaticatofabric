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Informatica PowerCenter / IDMC  →  Microsoft Fabric / Azure Databricks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BDC3C7"/>
                </a:solidFill>
              </a:rPr>
              <a:t>Automated Migration Tool — PowerCenter + IICS + IDMC (12 Services) → Fabric / Databricks / DBT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657600"/>
            <a:ext cx="2011680" cy="1371600"/>
          </a:xfrm>
          <a:prstGeom prst="roundRect">
            <a:avLst/>
          </a:prstGeom>
          <a:solidFill>
            <a:srgbClr val="FF4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3794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100 /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4348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Sprints Complete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40" y="3657600"/>
            <a:ext cx="2011680" cy="137160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3794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2,143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44348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Automated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657600"/>
            <a:ext cx="2011680" cy="13716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3794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44348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AI Agents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3657600"/>
            <a:ext cx="2011680" cy="137160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3794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4348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Target Platforms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5A5A6"/>
                </a:solidFill>
              </a:rPr>
              <a:t>Powered by GitHub Copilot  •  6-Agent AI Architecture  •  Zero Manual Code Rewriting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C3C7"/>
                </a:solidFill>
              </a:rPr>
              <a:t>Why migrate away from Informatica?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</a:rPr>
              <a:t>▸  Informatica PowerCenter/IICS/IDMC licensing costs escalate year-over-year (avg. 15-25% annual increase)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</a:rPr>
              <a:t>▸  On-premises infrastructure limits elasticity — peak workloads pay for idle capacity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</a:rPr>
              <a:t>▸  Vendor lock-in: proprietary XML formats, no native cloud integration, limited Spark support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</a:rPr>
              <a:t>▸  IDMC cloud services (CDI, CDGC, CDQ, MDM, etc.) add complexity without reducing on-prem footprint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</a:rPr>
              <a:t>▸  Manual migration projects historically take 12-24 months with 40-60% cost overruns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</a:rPr>
              <a:t>▸  Lack of modern data engineering patterns (Medallion, Delta Lake, Unity Catalog)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</a:rPr>
              <a:t>▸  AutoSys / scheduler coupling adds hidden dependency &amp; operational risk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</a:rPr>
              <a:t>▸  Skills scarcity: Informatica specialists are increasingly hard to hire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657600" cy="2011680"/>
          </a:xfrm>
          <a:prstGeom prst="roundRect">
            <a:avLst/>
          </a:prstGeom>
          <a:solidFill>
            <a:srgbClr val="FF4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FFFF"/>
                </a:solidFill>
              </a:rPr>
              <a:t>Industry Fact:
Enterprise Informatica
license spend averages
$1.2–3.5M / year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931920"/>
            <a:ext cx="3657600" cy="201168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FFFF"/>
                </a:solidFill>
              </a:rPr>
              <a:t>Manual Migration:
12–24 months
40–60% cost overrun
6–12 FTEs required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C3C7"/>
                </a:solidFill>
              </a:rPr>
              <a:t>AI-Orchestrated, Fully Automated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</a:rPr>
              <a:t>A 9-agent Copilot architecture that converts Informatica XML exports end-to-end, producing production-ready Fabric/Databricks artifacts with zero manual code rewriting.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194560"/>
            <a:ext cx="1737360" cy="1005840"/>
          </a:xfrm>
          <a:prstGeom prst="roundRect">
            <a:avLst/>
          </a:prstGeom>
          <a:solidFill>
            <a:srgbClr val="FF4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📂 XML
Exports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30552" y="2423160"/>
            <a:ext cx="256032" cy="32004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31720" y="2194560"/>
            <a:ext cx="1737360" cy="100584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🔍 Assess
&amp; Inventory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96512" y="2423160"/>
            <a:ext cx="256032" cy="32004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2194560"/>
            <a:ext cx="1737360" cy="100584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🗄️ SQL
Convert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062472" y="2423160"/>
            <a:ext cx="256032" cy="32004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2194560"/>
            <a:ext cx="1737360" cy="10058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📓 Notebook
Generate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028432" y="2423160"/>
            <a:ext cx="256032" cy="32004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2194560"/>
            <a:ext cx="1737360" cy="10058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⚡ Pipeline
Generate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994392" y="2423160"/>
            <a:ext cx="256032" cy="32004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95560" y="2194560"/>
            <a:ext cx="1737360" cy="10058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✅ Validate
&amp; 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566160"/>
            <a:ext cx="5486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PowerCenter 9.x/10.x + IICS + IDMC (12 cloud services) full support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6 source databases (Oracle, SQL Server, Teradata, DB2, MySQL, PostgreSQL)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180+ SQL pattern conversions → Spark SQL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18 transformation types → PySpark code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AutoSys JIL → Pipeline / Workflow JSON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Medallion architecture (Bronze / Silver / Gold)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566160"/>
            <a:ext cx="5486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Delta Lake DDL with partition strategy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Plugin system for custom enterprise rules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Python SDK + REST API for CI/CD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11-level validation framework + statistical checks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Datadog observability (logs, metrics, APM tracing)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Agentic alerting with auto-remediation &amp; learning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IDMC full component assessment (12 services)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Data catalog integration (Purview / Unity Catalog)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IaC generation (Terraform + Bicep)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Container &amp; K8s deployment (Helm chart)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CI/CD pipelines (GitHub Actions + Azure DevOps)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Migration Pipeline — 8-Phase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C3C7"/>
                </a:solidFill>
              </a:rPr>
              <a:t>Assess → Convert → Generate → Validate → Deploy — fully automated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645920"/>
            <a:ext cx="1325880" cy="1005840"/>
          </a:xfrm>
          <a:prstGeom prst="roundRect">
            <a:avLst/>
          </a:prstGeom>
          <a:solidFill>
            <a:srgbClr val="FF4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📂 XML
Exports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78892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PowerCenter
IICS + IDMC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527048" y="1965960"/>
            <a:ext cx="182880" cy="27432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09928" y="1645920"/>
            <a:ext cx="1325880" cy="1005840"/>
          </a:xfrm>
          <a:prstGeom prst="roundRect">
            <a:avLst/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🔍 ASSESS
Parse &amp;
Inventory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9928" y="278892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XML → inventory.json
complexity scoring
dependency DAG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54096" y="1965960"/>
            <a:ext cx="182880" cy="27432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36976" y="1645920"/>
            <a:ext cx="1325880" cy="100584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🗄️ SQL
CONVERT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278892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Oracle → Spark SQL
6 DB dialects
180+ patterns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81144" y="1965960"/>
            <a:ext cx="182880" cy="27432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64024" y="1645920"/>
            <a:ext cx="1325880" cy="10058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📓 NOTEBOOK
GENERATE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4024" y="278892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Mappings → PySpark
18 transform types
Fabric or Databricks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108192" y="1965960"/>
            <a:ext cx="182880" cy="27432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91072" y="1645920"/>
            <a:ext cx="1325880" cy="1005840"/>
          </a:xfrm>
          <a:prstGeom prst="roundRect">
            <a:avLst/>
          </a:prstGeom>
          <a:solidFill>
            <a:srgbClr val="FF6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🏗️ DBT
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78892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staging/int/marts
Jinja SQL models
auto-routing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635240" y="1965960"/>
            <a:ext cx="182880" cy="27432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18120" y="1645920"/>
            <a:ext cx="1325880" cy="10058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⚡ PIPELINE
GENERATE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278892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Workflows → JSON
AutoSys JIL
Schedule triggers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162288" y="1965960"/>
            <a:ext cx="182880" cy="27432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45168" y="1645920"/>
            <a:ext cx="1325880" cy="10058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✅ VALIDATE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8" y="278892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6-level checks
Row counts
Checksums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689336" y="1965960"/>
            <a:ext cx="182880" cy="27432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872216" y="1645920"/>
            <a:ext cx="1325880" cy="100584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🚀 DEPLOY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72216" y="278892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Fabric REST API
or Databricks CLI
or dbt deploy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4114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5A5A6"/>
                </a:solidFill>
              </a:rPr>
              <a:t>Data flows: inventory.json → SQL conversion → Notebook generation → Pipeline orchestration → Validation → Deployment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4663440"/>
            <a:ext cx="1600200" cy="411480"/>
          </a:xfrm>
          <a:prstGeom prst="roundRect">
            <a:avLst/>
          </a:prstGeom>
          <a:solidFill>
            <a:srgbClr val="FF4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Phase 0: Assess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65960" y="4663440"/>
            <a:ext cx="1600200" cy="41148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Phase 1: SQL Convert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0" y="4663440"/>
            <a:ext cx="1600200" cy="4114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Phase 2-3: Notebooks + DBT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49240" y="4663440"/>
            <a:ext cx="1600200" cy="4114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Phase 4-5: Pipelines + AutoSys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4663440"/>
            <a:ext cx="1600200" cy="411480"/>
          </a:xfrm>
          <a:prstGeom prst="round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Phase 6: Schema DDL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32520" y="4663440"/>
            <a:ext cx="1600200" cy="4114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Phase 7: Validate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24160" y="4663440"/>
            <a:ext cx="1600200" cy="41148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Phase 8: Deploy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53035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</a:rPr>
              <a:t>Each phase is idempotent — re-run any phase independently. The orchestrator (run_migration.py) chains all 8 phases with a single command.
CLI: informatica-to-fabric --target fabric|databricks|dbt|auto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Multi-Agent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C3C7"/>
                </a:solidFill>
              </a:rPr>
              <a:t>9 specialized AI agents orchestrated by GitHub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1234440" cy="91440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🎯 Orchestrator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2468880"/>
            <a:ext cx="11978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Plans &amp; coordinates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72768" y="1463040"/>
            <a:ext cx="1234440" cy="91440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🔍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91056" y="2468880"/>
            <a:ext cx="11978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XML parse, inventory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71216" y="1463040"/>
            <a:ext cx="1234440" cy="91440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🗄️ SQL Migration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9504" y="2468880"/>
            <a:ext cx="11978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Oracle/MSSQL→Spark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9664" y="1463040"/>
            <a:ext cx="1234440" cy="91440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📓 Notebook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7952" y="2468880"/>
            <a:ext cx="11978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Mappings→PySpark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68112" y="1463040"/>
            <a:ext cx="1234440" cy="9144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⚡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468880"/>
            <a:ext cx="11978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Workflows→JSON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1463040"/>
            <a:ext cx="1234440" cy="91440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🌊 Streaming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2468880"/>
            <a:ext cx="11978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CDC / RT / Functions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463040"/>
            <a:ext cx="1234440" cy="914400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🔒 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468880"/>
            <a:ext cx="11978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RLS / PII / GDPR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63456" y="1463040"/>
            <a:ext cx="1234440" cy="91440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🏗️ 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1744" y="2468880"/>
            <a:ext cx="11978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IaC / CI-CD / K8s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661904" y="1463040"/>
            <a:ext cx="1234440" cy="91440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✅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2468880"/>
            <a:ext cx="11978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Tests &amp; QA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C6E"/>
                </a:solidFill>
              </a:rPr>
              <a:t>Target Platforms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114800"/>
            <a:ext cx="265176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Microsoft Fabric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8006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Notebooks (notebookutils)
Data Pipelines JSON
Lakehouse DDL
OneLake + Medallion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46120" y="4114800"/>
            <a:ext cx="2651760" cy="640080"/>
          </a:xfrm>
          <a:prstGeom prst="roundRect">
            <a:avLst/>
          </a:prstGeom>
          <a:solidFill>
            <a:srgbClr val="FF3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Azure Databricks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8006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Notebooks (dbutils)
Workflows (Jobs API)
Unity Catalog DDL
DLT + Delta Sharing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4114800"/>
            <a:ext cx="2651760" cy="64008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DBT on Databricks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48006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staging / intermediate / marts
Jinja SQL models
CI/CD pipeline
Sources + Schema YAML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40" y="4114800"/>
            <a:ext cx="2651760" cy="640080"/>
          </a:xfrm>
          <a:prstGeom prst="roundRect">
            <a:avLst/>
          </a:prstGeom>
          <a:solidFill>
            <a:srgbClr val="FF4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PySpark Auto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48006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Auto-routes per mapping
DBT + PySpark hybrid
Complexity-based split
Best-fit selection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Target Architecture — Medallion on Microsoft Fabric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C3C7"/>
                </a:solidFill>
              </a:rPr>
              <a:t>Bronze → Silver → Gold lakehouse layers on OneLake with Delta Lake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C6E"/>
                </a:solidFill>
              </a:rPr>
              <a:t>Storage Layer (OneLake / Delta Lake)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91640"/>
            <a:ext cx="3474720" cy="594360"/>
          </a:xfrm>
          <a:prstGeom prst="roundRect">
            <a:avLst/>
          </a:prstGeom>
          <a:solidFill>
            <a:srgbClr val="CD7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🥉 Bronze Lakehouse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Raw ingestion
Source-congruent tables
No transformation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691640"/>
            <a:ext cx="3474720" cy="594360"/>
          </a:xfrm>
          <a:prstGeom prst="round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🥈 Silver Lakehouse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3317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Cleansed &amp; typed
Deduplication, casting
Business rules applied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91640"/>
            <a:ext cx="3474720" cy="594360"/>
          </a:xfrm>
          <a:prstGeom prst="round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🥇 Gold Lakehouse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3317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Business-ready
Aggregated &amp; curated
Serving layer for 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91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C6E"/>
                </a:solidFill>
              </a:rPr>
              <a:t>Compute Layer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657600"/>
            <a:ext cx="5394960" cy="50292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📓 Notebooks (PySpark)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Transformation logic
18 Informatica types → PySpark
Bronze → Silver → Gold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657600"/>
            <a:ext cx="5394960" cy="50292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🗄️ SQL Warehouse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20624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Stored procedures
T-SQL for Warehouse
Spark SQL for Lakehouse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983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C6E"/>
                </a:solidFill>
              </a:rPr>
              <a:t>Orchestration Layer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349240"/>
            <a:ext cx="3474720" cy="45720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⚡ Data Pipelines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521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Workflow orchestration
Activity chaining
AutoSys JIL → Pipeline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5349240"/>
            <a:ext cx="3474720" cy="457200"/>
          </a:xfrm>
          <a:prstGeom prst="roundRect">
            <a:avLst/>
          </a:prstGeom>
          <a:solidFill>
            <a:srgbClr val="FF4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⏰ Triggers &amp; Schedules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8521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Cron schedules
Event-based triggers
Informatica schedules → triggers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5349240"/>
            <a:ext cx="3474720" cy="457200"/>
          </a:xfrm>
          <a:prstGeom prst="roundRect">
            <a:avLst/>
          </a:prstGeom>
          <a:solidFill>
            <a:srgbClr val="FF4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🔗 IDMC Assessment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58521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</a:rPr>
              <a:t>12-service inventory
Complexity scoring
Migration readiness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Gets Migrated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C3C7"/>
                </a:solidFill>
              </a:rPr>
              <a:t>Comprehensive Informatica coverage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2788920" cy="5486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Mappings → Notebooks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65960"/>
            <a:ext cx="2606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Source Qualifier, Expression, Filter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Aggregator, Joiner, Lookup, Router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Update Strategy, Rank, Union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Normalizer, Sorter, Sequence Gen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Stored Procedure, Mapplets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SQL Transformation, Data Masking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371600"/>
            <a:ext cx="2788920" cy="5486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Workflows → Pipelines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965960"/>
            <a:ext cx="2606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Sessions, Command Tasks, Timers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Decisions, Event Wait/Raise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Assignments, Email Tasks, Worklets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Link Conditions, Control Tasks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IICS Taskflows (cloud-native)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Schedule triggers → cron expressions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2788920" cy="54864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SQL → Spark 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965960"/>
            <a:ext cx="2606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Oracle: NVL, DECODE, SYSDATE, ROWNUM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CONNECT BY, (+) joins, analytics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SQL Server: GETDATE, CROSS APPLY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Teradata: QUALIFY, SAMPLE, ZEROIFNULL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DB2: FETCH FIRST, VALUE, RRN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MySQL/PostgreSQL: casts, arrays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371600"/>
            <a:ext cx="2788920" cy="548640"/>
          </a:xfrm>
          <a:prstGeom prst="roundRect">
            <a:avLst/>
          </a:prstGeom>
          <a:solidFill>
            <a:srgbClr val="FF4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AutoSys JIL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965960"/>
            <a:ext cx="2606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BOX → Pipeline container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CMD (pmcmd) → Notebook activity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FW → File sensor / trigger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Conditions (s/f/n/d) → dependsOn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Calendars → cron schedules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Cross-box → Execute Pipeline refs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Advanced SQL &amp; PL/SQL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C3C7"/>
                </a:solidFill>
              </a:rPr>
              <a:t>Beyond simple find-and-replace — structured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180+ regex conversion patterns across 6 database dialects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Cursor → PySpark iterator (explicit, implicit, FOR...IN)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BULK COLLECT INTO → DataFrame spark.sql()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FORALL INSERT/UPDATE → batch DataFrame write / Delta MERGE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Exception blocks → try/except with mapped Python exceptions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Package state variables → Python module-level state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EXECUTE IMMEDIATE → spark.sql() with parameter substitution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CONNECT BY PRIOR → WITH RECURSIVE CTE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PIVOT retains native Spark SQL / UNPIVOT → stack()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Correlated EXISTS → LEFT SEMI JOIN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Correlated NOT EXISTS → LEFT ANTI JOIN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Temporal tables (FOR SYSTEM_TIME) → Delta time-travel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GTT, Materialized Views, DB Link detection &amp; flagging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DECODE → CASE WHEN expansion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Performance annotations (-- PERF: comments on anti-patterns)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Configurable YAML/JSON rule engine for enterprise overrides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Validation &amp; 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C3C7"/>
                </a:solidFill>
              </a:rPr>
              <a:t>6-level automated validation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640080" cy="5486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C6E"/>
                </a:solidFill>
              </a:rPr>
              <a:t>Row 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417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</a:rPr>
              <a:t>Source vs Target row count match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011680"/>
            <a:ext cx="640080" cy="5486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574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C6E"/>
                </a:solidFill>
              </a:rPr>
              <a:t>Column Checksum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057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</a:rPr>
              <a:t>Hash-based column integrity check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651760"/>
            <a:ext cx="640080" cy="5486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974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C6E"/>
                </a:solidFill>
              </a:rPr>
              <a:t>Aggregate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69748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</a:rPr>
              <a:t>SUM / AVG / MIN / MAX comparison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291840"/>
            <a:ext cx="640080" cy="5486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3375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C6E"/>
                </a:solidFill>
              </a:rPr>
              <a:t>Sample Diff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3375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</a:rPr>
              <a:t>Row-by-row sample record comparison + NULL / duplicate detection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931920"/>
            <a:ext cx="640080" cy="5486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977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C6E"/>
                </a:solidFill>
              </a:rPr>
              <a:t>Statistical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9776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</a:rPr>
              <a:t>Mean/stddev distribution + K-S test + SCD2 verification + RI checks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572000"/>
            <a:ext cx="640080" cy="54864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6177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C6E"/>
                </a:solidFill>
              </a:rPr>
              <a:t>End-to-End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6177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</a:rPr>
              <a:t>Full pipeline run + downstream report validation + business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394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5A5A6"/>
                </a:solidFill>
              </a:rPr>
              <a:t>2,143 automated tests  •  Purview &amp; Unity Catalog lineage  •  Column-level impact analysis
Statistical distribution comparison (K-S test)  •  SCD2 verification  •  Referential integrity  •  A/B testing  •  Business rules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Extensibility &amp; Enterprise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C3C7"/>
                </a:solidFill>
              </a:rPr>
              <a:t>Plugin system, SDK, REST API, rule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2788920" cy="50292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Plugin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2606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@register_transform decorator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@register_sql_rewrite decorator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@post_notebook / @post_pipeline hooks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Auto-discovery from plugins/ directory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3 example plugins included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371600"/>
            <a:ext cx="2788920" cy="50292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Python SDK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920240"/>
            <a:ext cx="2606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MigrationConfig dataclass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MigrationSDK.migrate() / .assess()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Convenience: from sdk import migrate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YAML / dict configuration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Programmatic CI/CD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2788920" cy="50292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REST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920240"/>
            <a:ext cx="2606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POST /migrate → async job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POST /assess → inventory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GET /status/{job_id}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FastAPI (or stdlib fallback)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OpenAPI / Swagger auto-docs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371600"/>
            <a:ext cx="2788920" cy="502920"/>
          </a:xfrm>
          <a:prstGeom prst="roundRect">
            <a:avLst/>
          </a:prstGeom>
          <a:solidFill>
            <a:srgbClr val="FF4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Rule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920240"/>
            <a:ext cx="2606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YAML / JSON rule definitions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Priority-based application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Enterprise override merging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Default rules/ directory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10+ SQL rules out-of-box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Observability &amp; Intelligent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C3C7"/>
                </a:solidFill>
              </a:rPr>
              <a:t>Datadog integration, agentic alerting, global monitoring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2788920" cy="502920"/>
          </a:xfrm>
          <a:prstGeom prst="roundRect">
            <a:avLst/>
          </a:prstGeom>
          <a:solidFill>
            <a:srgbClr val="632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Datadog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2606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Structured logs → Datadog Log Explorer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Custom metrics per phase &amp; artifact type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APM distributed tracing (ddtrace)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Monitor definitions for SLA breaches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Graceful degradation if not installed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371600"/>
            <a:ext cx="2788920" cy="502920"/>
          </a:xfrm>
          <a:prstGeom prst="roundRect">
            <a:avLst/>
          </a:prstGeom>
          <a:solidFill>
            <a:srgbClr val="FF4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Agentic Alerting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920240"/>
            <a:ext cx="2606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Signal processor with confidence scoring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Auto-remediation actions (3 modes)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Learning loop with SQLite history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Pattern recognition → auto-fix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Escalation when confidence &lt; threshold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2788920" cy="50292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Global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920240"/>
            <a:ext cx="2606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Unified control plane for all targets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4-tier escalation chains (L1→L4)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SLO tracking &amp; compliance reporting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Enterprise dashboards (Ops + Exec)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Cross-component alert correlation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371600"/>
            <a:ext cx="2788920" cy="50292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IDMC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920240"/>
            <a:ext cx="2606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12 IDMC components parsed via REST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CDI / CDGC / CDQ / MDM / DI / B2B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Migration review: merge/optimize/rework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Quality scoring &amp; readiness gate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IDMC-to-Fabric comparison report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Functionality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C3C7"/>
                </a:solidFill>
              </a:rPr>
              <a:t>100 sprints  •  17 phases  •  2,143 tests  •  9 agents  •  4 target platforms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325880"/>
            <a:ext cx="365760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🔄 Migration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" y="1728216"/>
            <a:ext cx="3511296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26+ transformation types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6 source databases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180+ SQL patterns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AutoSys JIL conversion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IICS + IDMC (12 services)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325880"/>
            <a:ext cx="3657600" cy="384048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🤖 AI &amp;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79392" y="1728216"/>
            <a:ext cx="3511296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LLM-powered SQL conversion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Confidence scoring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Pattern learning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Chat-based assistant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Gap resolution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325880"/>
            <a:ext cx="3657600" cy="384048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🌊 CDC &amp; Streaming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5592" y="1728216"/>
            <a:ext cx="3511296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Structured Streaming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Azure Functions (7 triggers)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Eventstream definitions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CDC MERGE INTO patterns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Deployment blueprints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2990088"/>
            <a:ext cx="3657600" cy="384048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🔒 Governance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392424"/>
            <a:ext cx="3511296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RLS / Column masking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GDPR / CCPA compliance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PII classification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6-gate certification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Data residency validation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990088"/>
            <a:ext cx="3657600" cy="384048"/>
          </a:xfrm>
          <a:prstGeom prst="roundRect">
            <a:avLst/>
          </a:prstGeom>
          <a:solidFill>
            <a:srgbClr val="632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📊 Observability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3392424"/>
            <a:ext cx="3511296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Datadog integration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Agentic auto-remediation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Global monitoring platform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4-tier escalation chains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SLO tracking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990088"/>
            <a:ext cx="3657600" cy="384048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✅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3392424"/>
            <a:ext cx="3511296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6-level framework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Statistical tests (K-S)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SCD2 verification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RI checks + A/B testing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Business rule assertions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4654296"/>
            <a:ext cx="3657600" cy="384048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🏗️ DevOps &amp; Infra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" y="5056632"/>
            <a:ext cx="3511296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Terraform + Bicep IaC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CI/CD (GitHub + ADO)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Docker / K8s / Helm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DAB bundles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Env promotion gates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4654296"/>
            <a:ext cx="3657600" cy="384048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🧠 ML &amp;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9392" y="5056632"/>
            <a:ext cx="3511296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Feature Store notebooks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MLflow experiment tracking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Batch scoring pipelines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TCO / DBU cost estimator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Cost optimization advisor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4654296"/>
            <a:ext cx="3657600" cy="384048"/>
          </a:xfrm>
          <a:prstGeom prst="roundRect">
            <a:avLst/>
          </a:prstGeom>
          <a:solidFill>
            <a:srgbClr val="FF4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🔌 Extensibility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5056632"/>
            <a:ext cx="3511296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Plugin system (decorators)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Python SDK + REST API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YAML/JSON rule engine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Purview / Unity Catalog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C3E50"/>
                </a:solidFill>
              </a:rPr>
              <a:t>▸  Visual lineage explorer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ROI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C3C7"/>
                </a:solidFill>
              </a:rPr>
              <a:t>Return on Investment — Automated vs Manual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C6E"/>
                </a:solidFill>
              </a:rPr>
              <a:t>Cost Comparison  (100-mapping migration, typical enterprise)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286000" cy="41148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0" y="1828800"/>
            <a:ext cx="2286000" cy="41148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Manual Migration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828800"/>
            <a:ext cx="2468880" cy="41148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Automated (This Tool)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67712"/>
            <a:ext cx="22860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Duration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267712"/>
            <a:ext cx="22860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C3E50"/>
                </a:solidFill>
              </a:rPr>
              <a:t>12–18 months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267712"/>
            <a:ext cx="2468880" cy="4114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FFFF"/>
                </a:solidFill>
              </a:rPr>
              <a:t>4–8 weeks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06624"/>
            <a:ext cx="2286000" cy="411480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FTEs Required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2706624"/>
            <a:ext cx="2286000" cy="411480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C3E50"/>
                </a:solidFill>
              </a:rPr>
              <a:t>6–12 engineers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706624"/>
            <a:ext cx="2468880" cy="4114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FFFF"/>
                </a:solidFill>
              </a:rPr>
              <a:t>1–2 engineers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45536"/>
            <a:ext cx="22860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Avg FTE Cost (annual)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3145536"/>
            <a:ext cx="22860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C3E50"/>
                </a:solidFill>
              </a:rPr>
              <a:t>$150K–$200K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145536"/>
            <a:ext cx="2468880" cy="4114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FFFF"/>
                </a:solidFill>
              </a:rPr>
              <a:t>$150K–$200K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84448"/>
            <a:ext cx="2286000" cy="411480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Total Labor Cost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3584448"/>
            <a:ext cx="2286000" cy="411480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C3E50"/>
                </a:solidFill>
              </a:rPr>
              <a:t>$900K – $2.4M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584448"/>
            <a:ext cx="2468880" cy="4114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FFFF"/>
                </a:solidFill>
              </a:rPr>
              <a:t>$58K – $154K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023360"/>
            <a:ext cx="22860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Informatica License (saved)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4023360"/>
            <a:ext cx="22860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4023360"/>
            <a:ext cx="2468880" cy="4114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FFFF"/>
                </a:solidFill>
              </a:rPr>
              <a:t>$1.2M – $3.5M / year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462272"/>
            <a:ext cx="2286000" cy="411480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Rework / Bug-Fix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4462272"/>
            <a:ext cx="2286000" cy="411480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C3E50"/>
                </a:solidFill>
              </a:rPr>
              <a:t>20–30% of budget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4462272"/>
            <a:ext cx="2468880" cy="4114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FFFF"/>
                </a:solidFill>
              </a:rPr>
              <a:t>&lt; 5% (test-validated)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901184"/>
            <a:ext cx="22860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Validation Effort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4901184"/>
            <a:ext cx="22860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C3E50"/>
                </a:solidFill>
              </a:rPr>
              <a:t>Manual QA: 2–4 months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0" y="4901184"/>
            <a:ext cx="2468880" cy="4114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FFFF"/>
                </a:solidFill>
              </a:rPr>
              <a:t>Auto-generated: 1–2 days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5279" y="1463040"/>
            <a:ext cx="2011680" cy="137160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00999" y="16002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85–95%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0999" y="22402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Cost Reduction
vs Manual Migration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79" y="3108960"/>
            <a:ext cx="2011680" cy="13716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00999" y="3246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3–6×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999" y="38862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Faster Time-
to-Production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79" y="4754880"/>
            <a:ext cx="2011680" cy="1371600"/>
          </a:xfrm>
          <a:prstGeom prst="roundRect">
            <a:avLst/>
          </a:prstGeom>
          <a:solidFill>
            <a:srgbClr val="FF4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00999" y="48920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$1.2–3.5M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0999" y="5532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Annual License
Savings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58400" y="1463040"/>
            <a:ext cx="2011680" cy="137160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20" y="16002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80–90%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04120" y="22402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Reduction in
FTE Requirement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58400" y="3108960"/>
            <a:ext cx="2011680" cy="137160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04120" y="3246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99%+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04120" y="38862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Automated Test
Coverage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58400" y="4754880"/>
            <a:ext cx="2011680" cy="137160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04120" y="48920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&lt; 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04120" y="5532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Rework Rate
vs 20-30% Manual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Time-to-Value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C3C7"/>
                </a:solidFill>
              </a:rPr>
              <a:t>Manual vs Automated Migration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3E50"/>
                </a:solidFill>
              </a:rPr>
              <a:t>Manual Migration (Traditional)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2148840" cy="777240"/>
          </a:xfrm>
          <a:prstGeom prst="roundRect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Discovery
&amp; Planning
3 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1920240"/>
            <a:ext cx="2148840" cy="777240"/>
          </a:xfrm>
          <a:prstGeom prst="roundRect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SQL
Conversion
4 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920240"/>
            <a:ext cx="2148840" cy="777240"/>
          </a:xfrm>
          <a:prstGeom prst="roundRect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Notebook
Development
4 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1920240"/>
            <a:ext cx="2148840" cy="777240"/>
          </a:xfrm>
          <a:prstGeom prst="roundRect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Testing
&amp; QA
3 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0" y="1920240"/>
            <a:ext cx="2148840" cy="777240"/>
          </a:xfrm>
          <a:prstGeom prst="roundRect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Deploy &amp;
Stabilize
4 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88920"/>
            <a:ext cx="11247120" cy="3200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Total: 12–18 months  •  6–12 FTEs  •  $900K–$2.4M labor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3E50"/>
                </a:solidFill>
              </a:rPr>
              <a:t>Automated Migration (This Tool)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1463040" cy="7772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Assessment
(automated)
1 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57400" y="3931920"/>
            <a:ext cx="1463040" cy="7772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Conversion
(automated)
1–2 days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3931920"/>
            <a:ext cx="3291840" cy="7772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Review &amp;
Customize
2–4 weeks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3931920"/>
            <a:ext cx="2560320" cy="7772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Validate
&amp; Deploy
1–2 weeks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00600"/>
            <a:ext cx="8046720" cy="3200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Total: 4–8 weeks  •  1–2 FTEs  •  $58K–$154K labor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3931920"/>
            <a:ext cx="3108960" cy="228600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FFFF"/>
                </a:solidFill>
              </a:rPr>
              <a:t>Net Savings
$840K – $2.25M
labor cost avoided
+ $1.2–3.5M/year
license elimination
Payback: &lt; 3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Detailed Time &amp; Cost Savings Estimate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C3C7"/>
                </a:solidFill>
              </a:rPr>
              <a:t>Per-task breakdown — 200 mappings, 50 workflows, 3 DB types, AutoSys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17320"/>
            <a:ext cx="2194560" cy="5029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Migration Task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1417320"/>
            <a:ext cx="822960" cy="5029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Manual
(h/item)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417320"/>
            <a:ext cx="822960" cy="5029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Auto
(h/item)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417320"/>
            <a:ext cx="548640" cy="5029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Items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417320"/>
            <a:ext cx="960120" cy="5029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Manual
Total (h)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417320"/>
            <a:ext cx="960120" cy="5029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Auto
Total (h)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417320"/>
            <a:ext cx="777240" cy="5029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Saved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1801368"/>
            <a:ext cx="219456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Assessment &amp; Inventory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1801368"/>
            <a:ext cx="82296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801368"/>
            <a:ext cx="82296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0.1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1801368"/>
            <a:ext cx="54864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200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1801368"/>
            <a:ext cx="96012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1,600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1801368"/>
            <a:ext cx="96012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1801368"/>
            <a:ext cx="777240" cy="347472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99%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185416"/>
            <a:ext cx="2194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SQL Override Conversion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8880" y="2185416"/>
            <a:ext cx="82296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12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2185416"/>
            <a:ext cx="82296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0.1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2185416"/>
            <a:ext cx="54864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120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2185416"/>
            <a:ext cx="96012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1,440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23560" y="2185416"/>
            <a:ext cx="96012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12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2185416"/>
            <a:ext cx="777240" cy="347472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99%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2569464"/>
            <a:ext cx="219456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Stored Procedure Conversion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68880" y="2569464"/>
            <a:ext cx="82296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24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2569464"/>
            <a:ext cx="82296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0.5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0" y="2569464"/>
            <a:ext cx="54864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30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2569464"/>
            <a:ext cx="96012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720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23560" y="2569464"/>
            <a:ext cx="96012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15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2569464"/>
            <a:ext cx="777240" cy="347472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98%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2953512"/>
            <a:ext cx="2194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Mapping → PySpark Notebook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68880" y="2953512"/>
            <a:ext cx="82296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16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1840" y="2953512"/>
            <a:ext cx="82296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0.2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0" y="2953512"/>
            <a:ext cx="54864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200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63440" y="2953512"/>
            <a:ext cx="96012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3,200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23560" y="2953512"/>
            <a:ext cx="96012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40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2953512"/>
            <a:ext cx="777240" cy="347472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99%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3337560"/>
            <a:ext cx="219456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Mapping → DBT Model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68880" y="3337560"/>
            <a:ext cx="82296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10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91840" y="3337560"/>
            <a:ext cx="82296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0.1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0" y="3337560"/>
            <a:ext cx="54864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80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63440" y="3337560"/>
            <a:ext cx="96012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800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23560" y="3337560"/>
            <a:ext cx="96012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8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0" y="3337560"/>
            <a:ext cx="777240" cy="347472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99%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4320" y="3721608"/>
            <a:ext cx="2194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Workflow → Pipeline JSON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468880" y="3721608"/>
            <a:ext cx="82296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12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91840" y="3721608"/>
            <a:ext cx="82296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0.2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14800" y="3721608"/>
            <a:ext cx="54864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50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663440" y="3721608"/>
            <a:ext cx="96012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600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23560" y="3721608"/>
            <a:ext cx="96012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10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83680" y="3721608"/>
            <a:ext cx="777240" cy="347472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98%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4320" y="4105656"/>
            <a:ext cx="219456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AutoSys JIL → Pipeline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468880" y="4105656"/>
            <a:ext cx="82296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8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291840" y="4105656"/>
            <a:ext cx="82296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0.1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114800" y="4105656"/>
            <a:ext cx="54864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40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663440" y="4105656"/>
            <a:ext cx="96012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320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623560" y="4105656"/>
            <a:ext cx="96012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83680" y="4105656"/>
            <a:ext cx="777240" cy="347472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99%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74320" y="4489704"/>
            <a:ext cx="2194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Delta Lake Schema (DDL)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468880" y="4489704"/>
            <a:ext cx="82296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291840" y="4489704"/>
            <a:ext cx="82296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0.05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114800" y="4489704"/>
            <a:ext cx="54864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200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663440" y="4489704"/>
            <a:ext cx="96012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800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623560" y="4489704"/>
            <a:ext cx="96012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10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583680" y="4489704"/>
            <a:ext cx="777240" cy="347472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99%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74320" y="4873752"/>
            <a:ext cx="219456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Validation Notebook Generation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468880" y="4873752"/>
            <a:ext cx="82296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6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291840" y="4873752"/>
            <a:ext cx="82296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0.1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114800" y="4873752"/>
            <a:ext cx="54864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200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663440" y="4873752"/>
            <a:ext cx="96012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1,200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623560" y="4873752"/>
            <a:ext cx="96012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20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583680" y="4873752"/>
            <a:ext cx="777240" cy="347472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98%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74320" y="5257800"/>
            <a:ext cx="2194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Unit/Integration Testing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468880" y="5257800"/>
            <a:ext cx="82296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10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291840" y="5257800"/>
            <a:ext cx="82296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0.5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114800" y="5257800"/>
            <a:ext cx="54864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200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663440" y="5257800"/>
            <a:ext cx="96012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2,000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623560" y="5257800"/>
            <a:ext cx="96012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100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583680" y="5257800"/>
            <a:ext cx="777240" cy="347472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95%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74320" y="5641848"/>
            <a:ext cx="219456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Lineage Documentation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468880" y="5641848"/>
            <a:ext cx="82296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291840" y="5641848"/>
            <a:ext cx="82296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0.05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114800" y="5641848"/>
            <a:ext cx="54864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200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663440" y="5641848"/>
            <a:ext cx="96012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800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623560" y="5641848"/>
            <a:ext cx="96012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10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583680" y="5641848"/>
            <a:ext cx="777240" cy="347472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99%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74320" y="6025896"/>
            <a:ext cx="2194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Data Catalog (Purview/UC) Setup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468880" y="6025896"/>
            <a:ext cx="82296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6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291840" y="6025896"/>
            <a:ext cx="82296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0.1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114800" y="6025896"/>
            <a:ext cx="54864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200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663440" y="6025896"/>
            <a:ext cx="96012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1,200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623560" y="6025896"/>
            <a:ext cx="96012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20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583680" y="6025896"/>
            <a:ext cx="777240" cy="347472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98%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74320" y="6428232"/>
            <a:ext cx="2194560" cy="41148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468880" y="6428232"/>
            <a:ext cx="822960" cy="41148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3291840" y="6428232"/>
            <a:ext cx="822960" cy="41148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4114800" y="6428232"/>
            <a:ext cx="548640" cy="41148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4663440" y="6428232"/>
            <a:ext cx="960120" cy="4114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14,680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623560" y="6428232"/>
            <a:ext cx="960120" cy="4114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269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583680" y="6428232"/>
            <a:ext cx="777240" cy="4114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98%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7498079" y="1417320"/>
            <a:ext cx="4389120" cy="347472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FFFFFF"/>
                </a:solidFill>
              </a:rPr>
              <a:t>Manual: 14,680 hours
= 92 FTE-months
= $1,395K labor
Automated: 269 hours
= 1.7 FTE-months
= $26K labor
Net Saved: $1,369K
(98% reduction)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498079" y="5029200"/>
            <a:ext cx="4389120" cy="1188720"/>
          </a:xfrm>
          <a:prstGeom prst="roundRect">
            <a:avLst/>
          </a:prstGeom>
          <a:solidFill>
            <a:srgbClr val="FF4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Additional Savings:
+$1.2–3.5M/year
Informatica license elimination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Enterprise Scenarios &amp;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C3C7"/>
                </a:solidFill>
              </a:rPr>
              <a:t>Real-world migration complexity handled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474720" cy="5486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Mid-Size Enterprise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</a:rPr>
              <a:t>50–100 mappings
20–30 workflows
1–2 database types
Timeline: 3–4 weeks
FTEs: 1 engineer
Savings: $400K–$800K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371600"/>
            <a:ext cx="3474720" cy="548640"/>
          </a:xfrm>
          <a:prstGeom prst="roundRect">
            <a:avLst/>
          </a:prstGeom>
          <a:solidFill>
            <a:srgbClr val="FF4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Large Enterprise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</a:rPr>
              <a:t>200–500 mappings
50–100 workflows
3–4 database types
AutoSys JIL jobs
Timeline: 6–10 weeks
FTEs: 2 engineers
Savings: $1.5M–$3M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474720" cy="54864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Global Financial Org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8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</a:rPr>
              <a:t>1,000+ mappings
200+ workflows
6 database types
AutoSys + PL/SQL heavy
Timeline: 12–16 weeks
FTEs: 3–4 engineers
Savings: $4M–$8M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Security, Governance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C3C7"/>
                </a:solidFill>
              </a:rPr>
              <a:t>Enterprise-grade safeguards built-in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</a:rPr>
              <a:t>▸  Credential sanitization — passwords/keys stripped from all generated artifacts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</a:rPr>
              <a:t>▸  PII detection — flags columns containing personal data (names, SSN, email patterns)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</a:rPr>
              <a:t>▸  Audit logging — every migration action recorded in JSON audit trail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</a:rPr>
              <a:t>▸  Multi-tenant Key Vault integration — secrets resolved via notebookutils / dbutils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</a:rPr>
              <a:t>▸  Data Quality rules — DQ assertions auto-generated from mapping metadata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</a:rPr>
              <a:t>▸  Column-level lineage — full source → transform → target traceability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</a:rPr>
              <a:t>▸  Microsoft Purview integration — Apache Atlas v2 metadata entities + lineage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</a:rPr>
              <a:t>▸  Unity Catalog tags — ALTER TABLE SET TAGS for migration provenance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</a:rPr>
              <a:t>▸  Impact analysis — trace downstream effects of source table changes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</a:rPr>
              <a:t>▸  5-level validation framework — statistical verification of migrated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657600" cy="411480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</a:rPr>
              <a:t>Compliance Coverage
✓ SOX audit trail
✓ GDPR PII detection
✓ HIPAA data masking flags
✓ Zero credential exposure
✓ Role-based access via
   Key Vault / Unity Catalog
✓ Full lineage for regulators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Cloud-Native DevOps &amp;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C3C7"/>
                </a:solidFill>
              </a:rPr>
              <a:t>Infrastructure as Code, containerized deployment, CI/CD pipelines, and enterprise benchmarks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3657600" cy="54864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🏗️ Infrastructure as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</a:rPr>
              <a:t>▸  Terraform HCL for Fabric &amp; Databricks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</a:rPr>
              <a:t>▸  Azure Bicep templates with parameters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</a:rPr>
              <a:t>▸  Multi-environment variable extraction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</a:rPr>
              <a:t>▸  Validated output (HCL lint + Bicep lint)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463040"/>
            <a:ext cx="3657600" cy="5486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🐳 Container &amp; Kubernetes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1031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</a:rPr>
              <a:t>▸  Production Dockerfile (Python 3.12-slim)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</a:rPr>
              <a:t>▸  Docker Compose (API + Web + Redis)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</a:rPr>
              <a:t>▸  K8s manifests (Deployment, Service, ConfigMap)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</a:rPr>
              <a:t>▸  Helm chart with configurable values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63040"/>
            <a:ext cx="3657600" cy="5486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🔄 CI/CD Pipelines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</a:rPr>
              <a:t>▸  GitHub Actions workflow generation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</a:rPr>
              <a:t>▸  Azure DevOps multi-stage pipelines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</a:rPr>
              <a:t>▸  Environment gates (dev → test → prod)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</a:rPr>
              <a:t>▸  Secret injection (never hardcoded)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572000"/>
            <a:ext cx="11430000" cy="457200"/>
          </a:xfrm>
          <a:prstGeom prst="roundRect">
            <a:avLst/>
          </a:prstGeom>
          <a:solidFill>
            <a:srgbClr val="FF4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📊 Enterprise Benchmarks: 500+ mapping stress tests  •  Memory profiling  •  Parallel generation (ProcessPoolExecutor)  •  Golden dataset regression suite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212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</a:rPr>
              <a:t>One command deploys the entire migration tool to AKS, ECS, or any K8s cluster.
CI/CD pipelines automate: assess → convert → validate → deploy — with approval gates per environment.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103120" cy="914400"/>
          </a:xfrm>
          <a:prstGeom prst="roundRect">
            <a:avLst/>
          </a:prstGeom>
          <a:solidFill>
            <a:srgbClr val="FF4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Discovery Workshop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417320"/>
            <a:ext cx="54864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4500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346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DC3C7"/>
                </a:solidFill>
              </a:rPr>
              <a:t>Inventory your Informatica estate
(PowerCenter + IICS + AutoSys)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828800"/>
            <a:ext cx="2103120" cy="91440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Proof of Concept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417320"/>
            <a:ext cx="54864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7AE60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28346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DC3C7"/>
                </a:solidFill>
              </a:rPr>
              <a:t>Migrate 5–10 representative
mappings in 1 week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828800"/>
            <a:ext cx="2103120" cy="9144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Wave Planning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417320"/>
            <a:ext cx="54864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078D4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8346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DC3C7"/>
                </a:solidFill>
              </a:rPr>
              <a:t>Topological dependency sort
+ complexity-based waves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828800"/>
            <a:ext cx="2103120" cy="91440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Production Migration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417320"/>
            <a:ext cx="54864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8E44AD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8346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DC3C7"/>
                </a:solidFill>
              </a:rPr>
              <a:t>Automated conversion with
validation at every step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1828800"/>
            <a:ext cx="2103120" cy="91440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Decommission Informatica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0" y="1417320"/>
            <a:ext cx="54864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C0392B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28346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DC3C7"/>
                </a:solidFill>
              </a:rPr>
              <a:t>License savings begin —
ROI realized within 3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54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"The fastest path from Informatica to Fabric/Databricks —
automated, validated, and production-ready."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5A5A6"/>
                </a:solidFill>
              </a:rPr>
              <a:t>informatica-to-fabric  •  MIT Licensed  •  github.com/cyphou/InformaticaToFabric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