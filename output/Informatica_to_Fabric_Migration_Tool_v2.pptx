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Informatica  →  Microsoft Fabric / Azure Databricks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945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DC3C7"/>
                </a:solidFill>
              </a:rPr>
              <a:t>Automated Migration Tool — Functionality Overview &amp; ROI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3657600"/>
            <a:ext cx="2377440" cy="13716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7947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79 / 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4348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Sprints Complete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3657600"/>
            <a:ext cx="2377440" cy="13716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37947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1,489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44348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Automated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657600"/>
            <a:ext cx="2377440" cy="13716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7947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4348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AI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3657600"/>
            <a:ext cx="2377440" cy="13716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20" y="37947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44348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Target Platforms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Powered by GitHub Copilot  •  6-Agent AI Architecture  •  Zero Manual Code Rewriting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Why migrate away from Informatica?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Informatica PowerCenter/IICS licensing costs escalate year-over-year (avg. 15-25% annual increase)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On-premises infrastructure limits elasticity — peak workloads pay for idle capacity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Vendor lock-in: proprietary XML formats, no native cloud integration, limited Spark support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Manual migration projects historically take 12-24 months with 40-60% cost overruns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Lack of modern data engineering patterns (Medallion, Delta Lake, Unity Catalog)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AutoSys / scheduler coupling adds hidden dependency &amp; operational risk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Skills scarcity: Informatica specialists are increasingly hard to hire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657600" cy="201168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</a:rPr>
              <a:t>Industry Fact:
Enterprise Informatica
license spend averages
$1.2–3.5M / year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931920"/>
            <a:ext cx="3657600" cy="201168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</a:rPr>
              <a:t>Manual Migration:
12–24 months
40–60% cost overrun
6–12 FTEs required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AI-Orchestrated, Fully Automated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</a:rPr>
              <a:t>A 6-agent Copilot architecture that converts Informatica XML exports end-to-end, producing production-ready Fabric/Databricks artifacts with zero manual code rewriting.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194560"/>
            <a:ext cx="1737360" cy="10058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📂 XML
Exports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3055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31720" y="2194560"/>
            <a:ext cx="1737360" cy="100584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🔍 Assess
&amp; Inventory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651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2194560"/>
            <a:ext cx="1737360" cy="10058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🗄️ SQL
Convert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6247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1737360" cy="10058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📓 Notebook
Generate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2843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0" y="2194560"/>
            <a:ext cx="1737360" cy="10058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⚡ Pipeline
Generate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994392" y="2423160"/>
            <a:ext cx="256032" cy="320040"/>
          </a:xfrm>
          <a:prstGeom prst="rightArrow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195560" y="2194560"/>
            <a:ext cx="1737360" cy="100584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✅ Validate
&amp;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56616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PowerCenter 9.x/10.x + IICS full support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6 source databases (Oracle, SQL Server, Teradata, DB2, MySQL, PostgreSQL)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180+ SQL pattern conversions → Spark SQL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 transformation types → PySpark code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AutoSys JIL → Pipeline / Workflow JSON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Medallion architecture (Bronze / Silver / Gold)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56616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Delta Lake DDL with partition strategy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Plugin system for custom enterprise rules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Python SDK + REST API for CI/CD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5-level validation framework + statistical checks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Data catalog integration (Purview / Unity Catalog)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Column-level lineage &amp; impact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Multi-Agent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6 specialized AI agents orchestrated by GitHub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63040"/>
            <a:ext cx="1828800" cy="9144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🎯 Orchestrator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Plans &amp; coordinates
migration waves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1463040"/>
            <a:ext cx="1828800" cy="91440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🔍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XML parsing, inventory,
complexity scoring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463040"/>
            <a:ext cx="1828800" cy="9144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🗄️ SQL Migration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Oracle/MSSQL/Teradata
→ Spark SQL / T-SQL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463040"/>
            <a:ext cx="1828800" cy="9144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📓 Notebook Migration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Mappings → PySpark
notebooks / DBT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63040"/>
            <a:ext cx="1828800" cy="9144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⚡ Pipeline Migration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Workflows → Fabric
Pipeline / DB Workflow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04120" y="1463040"/>
            <a:ext cx="1828800" cy="9144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✅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Test generation,
row counts &amp; checksums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3C6E"/>
                </a:solidFill>
              </a:rPr>
              <a:t>Target Platforms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114800"/>
            <a:ext cx="3474720" cy="6400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Microsoft Fabric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8006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</a:rPr>
              <a:t>Notebooks (notebookutils)
Data Pipelines JSON
Lakehouse DDL
OneLake + Medallion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4114800"/>
            <a:ext cx="3474720" cy="640080"/>
          </a:xfrm>
          <a:prstGeom prst="roundRect">
            <a:avLst/>
          </a:prstGeom>
          <a:solidFill>
            <a:srgbClr val="FF3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Azure Databricks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8006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</a:rPr>
              <a:t>Notebooks (dbutils)
Workflows (Jobs API)
Unity Catalog DDL
DLT + Delta Sharing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14800"/>
            <a:ext cx="3474720" cy="64008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DBT on Databricks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8006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</a:rPr>
              <a:t>staging / intermediate / marts
Jinja SQL models
CI/CD pipeline
Sources + Schema YAML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Gets Migrated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Comprehensive Informatica coverage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2788920" cy="5486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Mappings → Notebooks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Source Qualifier, Expression, Filter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Aggregator, Joiner, Lookup, Router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Update Strategy, Rank, Union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Normalizer, Sorter, Sequence Gen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Stored Procedure, Mapplets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SQL Transformation, Data Masking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278892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Workflows → Pipelines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Sessions, Command Tasks, Timers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Decisions, Event Wait/Raise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Assignments, Email Tasks, Worklets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Link Conditions, Control Tasks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IICS Taskflows (cloud-native)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Schedule triggers → cron expressions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788920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SQL → Spark 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Oracle: NVL, DECODE, SYSDATE, ROWNUM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CONNECT BY, (+) joins, analytics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SQL Server: GETDATE, CROSS APPLY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Teradata: QUALIFY, SAMPLE, ZEROIFNULL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DB2: FETCH FIRST, VALUE, RRN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MySQL/PostgreSQL: casts, arrays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371600"/>
            <a:ext cx="2788920" cy="5486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AutoSys JIL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BOX → Pipeline container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CMD (pmcmd) → Notebook activity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FW → File sensor / trigger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Conditions (s/f/n/d) → dependsOn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Calendars → cron schedules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Cross-box → Execute Pipeline refs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Advanced SQL &amp; PL/SQL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Beyond simple find-and-replace — structured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180+ regex conversion patterns across 6 database dialects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Cursor → PySpark iterator (explicit, implicit, FOR...IN)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BULK COLLECT INTO → DataFrame spark.sql()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FORALL INSERT/UPDATE → batch DataFrame write / Delta MERGE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Exception blocks → try/except with mapped Python exceptions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Package state variables → Python module-level state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EXECUTE IMMEDIATE → spark.sql() with parameter substitution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CONNECT BY PRIOR → WITH RECURSIVE CTE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PIVOT retains native Spark SQL / UNPIVOT → stack()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Correlated EXISTS → LEFT SEMI JOIN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Correlated NOT EXISTS → LEFT ANTI JOIN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Temporal tables (FOR SYSTEM_TIME) → Delta time-travel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GTT, Materialized Views, DB Link detection &amp; flagging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DECODE → CASE WHEN expansion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Performance annotations (-- PERF: comments on anti-patterns)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Configurable YAML/JSON rule engine for enterprise overrides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Validation &amp; Quality Assurance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11-level automated validation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3898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Row 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3898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Source vs Target row count match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10512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Column Checksum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828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Hash-based column integrity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249424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2677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Aggregate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2677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SUM / AVG / MIN / MAX comparison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688336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0662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Sample Diff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06624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Row-by-row sample record comparison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127248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4553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NULL / Duplicate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45536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NULL distribution &amp; duplicate detection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566160"/>
            <a:ext cx="640080" cy="38404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5844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Statistical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58444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Mean/stddev distribution + K-S test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005072"/>
            <a:ext cx="640080" cy="38404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023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SCD Type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023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Effective dates, current_flag, gap/overlap check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443984"/>
            <a:ext cx="640080" cy="38404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4622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Null Distribution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4622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Column-level null % comparison (1% threshold)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4882896"/>
            <a:ext cx="640080" cy="384048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90118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Referential Integrity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4901184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FK relationship validation from LKP/JNR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21808"/>
            <a:ext cx="640080" cy="384048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34009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A/B Testing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340096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Side-by-side source/target row comparison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5760720"/>
            <a:ext cx="640080" cy="384048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7790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Business Rules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577900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Custom assertions from migration.yaml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1,489 automated tests  •  Purview &amp; Unity Catalog lineage  •  Column-level impact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Extensibility &amp; Enterprise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Plugin system, SDK, REST API, rule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2788920" cy="50292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Plugin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@register_transform decorator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@register_sql_rewrite decorator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@post_notebook / @post_pipeline hooks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Auto-discovery from plugins/ directory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3 example plugins included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2788920" cy="50292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Python SDK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MigrationConfig dataclass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MigrationSDK.migrate() / .assess()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Convenience: from sdk import migrate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YAML / dict configuration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Programmatic CI/CD integration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788920" cy="5029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REST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POST /migrate → async job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POST /assess → inventory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GET /status/{job_id}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FastAPI (or stdlib fallback)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OpenAPI / Swagger auto-docs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371600"/>
            <a:ext cx="2788920" cy="50292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Rule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YAML / JSON rule definitions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Priority-based application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Enterprise override merging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Default rules/ directory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10+ SQL rules out-of-box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ROI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Return on Investment — Automated vs Manual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C6E"/>
                </a:solidFill>
              </a:rPr>
              <a:t>Cost Comparison  (100-mapping migration, typical enterprise)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28600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0" y="1828800"/>
            <a:ext cx="228600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Manual Migration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828800"/>
            <a:ext cx="246888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Automated (This Tool)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67712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Duration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267712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12–18 months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267712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4–8 weeks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06624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FTEs Required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2706624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6–12 engineers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706624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1–2 engineers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45536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Avg FTE Cost (annual)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145536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$150K–$200K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3145536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$150K–$200K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84448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Total Labor Cost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3584448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$900K – $2.4M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3584448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$58K – $154K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23360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Informatica License (saved)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4023360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4023360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$1.2M – $3.5M / year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62272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Rework / Bug-Fix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4462272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20–30% of budget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0" y="4462272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&lt; 5% (test-validated)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01184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Validation Effort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901184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Manual QA: 2–4 months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0" y="4901184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Auto-generated: 1–2 days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1463040"/>
            <a:ext cx="2377440" cy="13716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160020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85–95%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240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Cost Reduction
vs Manual Migration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0" y="3108960"/>
            <a:ext cx="2377440" cy="13716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32461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3–6×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38862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Faster Time-
to-Production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4754880"/>
            <a:ext cx="2377440" cy="13716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489204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$1.2–3.5M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532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Annual License
Savings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789920" y="1463040"/>
            <a:ext cx="2377440" cy="13716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81360" y="160020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80–90%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2240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Reduction in
FTE Requirement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89920" y="3108960"/>
            <a:ext cx="2377440" cy="13716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81360" y="32461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99%+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0" y="38862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Automated Test
Coverage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789920" y="4754880"/>
            <a:ext cx="2377440" cy="13716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81360" y="489204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&lt; 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5532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Rework Rate
vs 20-30% Manual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Time-to-Value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Manual vs Automated Migration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</a:rPr>
              <a:t>Manual Migration (Traditional)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Discovery
&amp; Planning
3 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SQL
Conversion
4 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Notebook
Development
4 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Testing
&amp; QA
3 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Deploy &amp;
Stabilize
4 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88920"/>
            <a:ext cx="11247120" cy="32004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Total: 12–18 months  •  6–12 FTEs  •  $900K–$2.4M labor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</a:rPr>
              <a:t>Automated Migration (This Tool)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46304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Assessment
(automated)
1 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57400" y="3931920"/>
            <a:ext cx="146304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Conversion
(automated)
1–2 days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3931920"/>
            <a:ext cx="3291840" cy="7772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Review &amp;
Customize
2–4 weeks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3931920"/>
            <a:ext cx="256032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Validate
&amp; Deploy
1–2 weeks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00600"/>
            <a:ext cx="8046720" cy="3200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Total: 4–8 weeks  •  1–2 FTEs  •  $58K–$154K labor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3931920"/>
            <a:ext cx="3931920" cy="22860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FFFFFF"/>
                </a:solidFill>
              </a:rPr>
              <a:t>Net Savings
$840K – $2.25M
labor cost avoided
+ $1.2–3.5M/year
license elimination
Payback: &lt; 3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Detailed Time &amp; Cost Savings Estimate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Per-task breakdown — 200 mappings, 50 workflows, 3 DB types, AutoSys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246888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Migration Task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417320"/>
            <a:ext cx="114300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Manual
(hours/item)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86200" y="1417320"/>
            <a:ext cx="114300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Automated
(hours/item)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417320"/>
            <a:ext cx="68580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15000" y="1417320"/>
            <a:ext cx="114300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Manual
Total (h)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1417320"/>
            <a:ext cx="114300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Automated
Total (h)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417320"/>
            <a:ext cx="1005840" cy="5029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Savings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1801368"/>
            <a:ext cx="246888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Assessment &amp; Inventory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801368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1801368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1801368"/>
            <a:ext cx="6858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0" y="1801368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1,600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1801368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801368"/>
            <a:ext cx="10058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2185416"/>
            <a:ext cx="246888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SQL Override Conversion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2185416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86200" y="2185416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2185416"/>
            <a:ext cx="6858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5000" y="2185416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1,440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2185416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2185416"/>
            <a:ext cx="10058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2569464"/>
            <a:ext cx="246888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Stored Procedure Conversion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0" y="2569464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2569464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0" y="2569464"/>
            <a:ext cx="6858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30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15000" y="2569464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720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2569464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01000" y="2569464"/>
            <a:ext cx="10058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2953512"/>
            <a:ext cx="246888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Mapping → PySpark Notebook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2953512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86200" y="2953512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0" y="2953512"/>
            <a:ext cx="6858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5000" y="2953512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3,200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0" y="2953512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01000" y="2953512"/>
            <a:ext cx="10058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3337560"/>
            <a:ext cx="246888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Mapping → DBT Model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0" y="3337560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86200" y="3337560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0" y="3337560"/>
            <a:ext cx="6858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15000" y="3337560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0" y="3337560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01000" y="3337560"/>
            <a:ext cx="10058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4320" y="3721608"/>
            <a:ext cx="246888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Workflow → Pipeline JSON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0" y="3721608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12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886200" y="3721608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0" y="3721608"/>
            <a:ext cx="6858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50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715000" y="3721608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600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58000" y="3721608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01000" y="3721608"/>
            <a:ext cx="10058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4320" y="4105656"/>
            <a:ext cx="246888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AutoSys JIL → Pipeline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743200" y="4105656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886200" y="4105656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29200" y="4105656"/>
            <a:ext cx="6858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715000" y="4105656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320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858000" y="4105656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01000" y="4105656"/>
            <a:ext cx="10058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74320" y="4489704"/>
            <a:ext cx="246888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Delta Lake Schema (DDL)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743200" y="4489704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886200" y="4489704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0.05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29200" y="4489704"/>
            <a:ext cx="6858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715000" y="4489704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858000" y="4489704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01000" y="4489704"/>
            <a:ext cx="10058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74320" y="4873752"/>
            <a:ext cx="246888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Validation Notebook Generation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743200" y="4873752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6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886200" y="4873752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029200" y="4873752"/>
            <a:ext cx="6858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715000" y="4873752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1,200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858000" y="4873752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001000" y="4873752"/>
            <a:ext cx="10058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74320" y="5257800"/>
            <a:ext cx="246888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Unit/Integration Testing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743200" y="5257800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886200" y="5257800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0.5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9200" y="5257800"/>
            <a:ext cx="6858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715000" y="5257800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2,000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858000" y="5257800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100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001000" y="5257800"/>
            <a:ext cx="10058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95%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74320" y="5641848"/>
            <a:ext cx="246888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Lineage Documentation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743200" y="5641848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4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886200" y="5641848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0.05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029200" y="5641848"/>
            <a:ext cx="6858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715000" y="5641848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800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58000" y="5641848"/>
            <a:ext cx="1143000" cy="347472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001000" y="5641848"/>
            <a:ext cx="10058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6025896"/>
            <a:ext cx="246888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2C3E50"/>
                </a:solidFill>
              </a:rPr>
              <a:t>Data Catalog (Purview/UC) Setup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743200" y="6025896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6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886200" y="6025896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0.1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029200" y="6025896"/>
            <a:ext cx="6858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200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715000" y="6025896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1,200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858000" y="6025896"/>
            <a:ext cx="1143000" cy="3474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C3E50"/>
                </a:solidFill>
              </a:rPr>
              <a:t>20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001000" y="6025896"/>
            <a:ext cx="1005840" cy="34747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74320" y="6428232"/>
            <a:ext cx="246888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743200" y="6428232"/>
            <a:ext cx="114300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3886200" y="6428232"/>
            <a:ext cx="114300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029200" y="6428232"/>
            <a:ext cx="68580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5715000" y="6428232"/>
            <a:ext cx="114300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14,680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858000" y="6428232"/>
            <a:ext cx="114300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269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001000" y="6428232"/>
            <a:ext cx="100584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412480" y="1417320"/>
            <a:ext cx="3474720" cy="38404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FFFFFF"/>
                </a:solidFill>
              </a:rPr>
              <a:t>Manual: 14,680 hours
= 92 FTE-months
= $1,395K labor
Automated: 269 hours
= 1.7 FTE-months
= $26K labor
Net Saved: $1,369K
(98% reduction)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12480" y="5394960"/>
            <a:ext cx="3474720" cy="109728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Additional Savings:
+$1.2–3.5M/year
Informatica license
elimination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Enterprise Scenarios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Real-world migration complexity handled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47472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Mid-Size Enterprise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50–100 mappings
20–30 workflows
1–2 database types
Timeline: 3–4 weeks
FTEs: 1 engineer
Savings: $400K–$800K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371600"/>
            <a:ext cx="3474720" cy="5486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Large Enterprise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200–500 mappings
50–100 workflows
3–4 database types
AutoSys JIL jobs
Timeline: 6–10 weeks
FTEs: 2 engineers
Savings: $1.5M–$3M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474720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Global Financial Org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8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1,000+ mappings
200+ workflows
6 database types
AutoSys + PL/SQL heavy
Timeline: 12–16 weeks
FTEs: 3–4 engineers
Savings: $4M–$8M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Security, Governance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Enterprise-grade safeguards built-in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Credential sanitization — passwords/keys stripped from all generated artifacts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PII detection — flags columns containing personal data (names, SSN, email patterns)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Audit logging — every migration action recorded in JSON audit trail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Multi-tenant Key Vault integration — secrets resolved via notebookutils / dbutils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Data Quality rules — DQ assertions auto-generated from mapping metadata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Column-level lineage — full source → transform → target traceability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Microsoft Purview integration — Apache Atlas v2 metadata entities + lineage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Unity Catalog tags — ALTER TABLE SET TAGS for migration provenance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Impact analysis — trace downstream effects of source table changes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5-level validation framework — statistical verification of migrated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657600" cy="41148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</a:rPr>
              <a:t>Compliance Coverage
✓ SOX audit trail
✓ GDPR PII detection
✓ HIPAA data masking flags
✓ Zero credential exposure
✓ Role-based access via
   Key Vault / Unity Catalog
✓ Full lineage for regulators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103120" cy="9144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Discovery Workshop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4500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Inventory your Informatica estate
(PowerCenter + IICS + AutoSys)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28800"/>
            <a:ext cx="2103120" cy="9144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Proof of Concept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7AE60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Migrate 5–10 representative
mappings in 1 week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828800"/>
            <a:ext cx="2103120" cy="9144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Wave Planning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078D4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Topological dependency sort
+ complexity-based waves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828800"/>
            <a:ext cx="2103120" cy="9144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Production Migration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8E44AD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Automated conversion with
validation at every step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0" y="1828800"/>
            <a:ext cx="2103120" cy="9144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Decommission Informatica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C0392B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License savings begin —
ROI realized within 3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54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</a:rPr>
              <a:t>"The fastest path from Informatica to Fabric/Databricks —
automated, validated, and production-ready."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informatica-to-fabric  •  MIT Licensed  •  github.com/cyphou/InformaticaToFabric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